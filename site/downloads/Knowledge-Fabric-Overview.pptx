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35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92713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Generic capability overview. No client-specific content, no commercial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four properties. The fourth is the one competitors do not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clarify-back band is the differentiator. Most systems refuse or invent; this one asks one question and retries.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Trace the flow: content pipeline down the left, into grounded answering, out to telemetry. The dashed violet return is the gap backlog.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786384"/>
            <a:ext cx="2487168" cy="30175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12252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9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CENTER OF EXCELLENCE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920240"/>
            <a:ext cx="10058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0D15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Fabric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2980944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009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Knowledge Intelligence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66928" y="3694176"/>
            <a:ext cx="2103120" cy="50292"/>
          </a:xfrm>
          <a:prstGeom prst="rect">
            <a:avLst/>
          </a:prstGeom>
          <a:solidFill>
            <a:srgbClr val="F53E5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4"/>
          <p:cNvSpPr txBox="1"/>
          <p:nvPr/>
        </p:nvSpPr>
        <p:spPr>
          <a:xfrm>
            <a:off x="566928" y="3968496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i="1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your organisation can defend, drawn only from documents it has already approved.</a:t>
            </a:r>
            <a:endParaRPr lang="en-US" sz="16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>
            <a:alphaModFix amt="8000"/>
          </a:blip>
          <a:stretch>
            <a:fillRect/>
          </a:stretch>
        </p:blipFill>
        <p:spPr>
          <a:xfrm>
            <a:off x="8961120" y="1371600"/>
            <a:ext cx="2834640" cy="28346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66928" y="570585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Prashobh Paul</a:t>
            </a:r>
            <a:r>
              <a:rPr lang="en-US" sz="125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 Architect, QualiZeal · AI Center of Excellence</a:t>
            </a:r>
            <a:endParaRPr lang="en-US" sz="1250" dirty="0"/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15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Knowledge Fabric is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0584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that answers from your own approved documents — and shows its work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11027664" cy="1024128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822960" y="1828800"/>
            <a:ext cx="512064" cy="512064"/>
          </a:xfrm>
          <a:prstGeom prst="roundRect">
            <a:avLst>
              <a:gd name="adj" fmla="val 23214"/>
            </a:avLst>
          </a:prstGeom>
          <a:solidFill>
            <a:srgbClr val="E8F5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987552" y="1993392"/>
            <a:ext cx="182880" cy="182880"/>
          </a:xfrm>
          <a:prstGeom prst="ellipse">
            <a:avLst/>
          </a:prstGeom>
          <a:solidFill>
            <a:srgbClr val="0086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 txBox="1"/>
          <p:nvPr/>
        </p:nvSpPr>
        <p:spPr>
          <a:xfrm>
            <a:off x="1536192" y="175564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8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Answers, not documents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536192" y="2084832"/>
            <a:ext cx="9656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answers assembled from approved sources, never from general world knowledge.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2761488"/>
            <a:ext cx="11027664" cy="1024128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822960" y="3017520"/>
            <a:ext cx="512064" cy="512064"/>
          </a:xfrm>
          <a:prstGeom prst="roundRect">
            <a:avLst>
              <a:gd name="adj" fmla="val 23214"/>
            </a:avLst>
          </a:prstGeom>
          <a:solidFill>
            <a:srgbClr val="E7F8F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987552" y="3182112"/>
            <a:ext cx="182880" cy="182880"/>
          </a:xfrm>
          <a:prstGeom prst="ellipse">
            <a:avLst/>
          </a:prstGeom>
          <a:solidFill>
            <a:srgbClr val="04785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1536192" y="294436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carries its source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536192" y="3273552"/>
            <a:ext cx="9656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sentence traces to a document, page and paragraph the organisation already approved.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3950208"/>
            <a:ext cx="11027664" cy="1024128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822960" y="4206240"/>
            <a:ext cx="512064" cy="512064"/>
          </a:xfrm>
          <a:prstGeom prst="roundRect">
            <a:avLst>
              <a:gd name="adj" fmla="val 23214"/>
            </a:avLst>
          </a:prstGeom>
          <a:solidFill>
            <a:srgbClr val="FEF4E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987552" y="4370832"/>
            <a:ext cx="182880" cy="182880"/>
          </a:xfrm>
          <a:prstGeom prst="ellipse">
            <a:avLst/>
          </a:prstGeom>
          <a:solidFill>
            <a:srgbClr val="DC680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 txBox="1"/>
          <p:nvPr/>
        </p:nvSpPr>
        <p:spPr>
          <a:xfrm>
            <a:off x="1536192" y="413308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C68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asks before it guesses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536192" y="4462272"/>
            <a:ext cx="9656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evidence is thin the system asks one clarifying question instead of refusing or inventing.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5138928"/>
            <a:ext cx="11027664" cy="1024128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822960" y="5394960"/>
            <a:ext cx="512064" cy="512064"/>
          </a:xfrm>
          <a:prstGeom prst="roundRect">
            <a:avLst>
              <a:gd name="adj" fmla="val 23214"/>
            </a:avLst>
          </a:prstGeom>
          <a:solidFill>
            <a:srgbClr val="F8EDF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987552" y="5559552"/>
            <a:ext cx="182880" cy="182880"/>
          </a:xfrm>
          <a:prstGeom prst="ellipse">
            <a:avLst/>
          </a:prstGeom>
          <a:solidFill>
            <a:srgbClr val="9333E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 txBox="1"/>
          <p:nvPr/>
        </p:nvSpPr>
        <p:spPr>
          <a:xfrm>
            <a:off x="1536192" y="532180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33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reports its own gaps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536192" y="5650992"/>
            <a:ext cx="9656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the corpus cannot answer become a ranked content backlog for the people who own it.</a:t>
            </a:r>
            <a:endParaRPr lang="en-US" sz="1300" dirty="0"/>
          </a:p>
        </p:txBody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419088"/>
            <a:ext cx="173736" cy="173736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813816" y="642823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QualiZeal · AI Center of Excellence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15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 it addresses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0584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authoritative answer usually exists — it is just unreachable in the time available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66928" y="1591056"/>
            <a:ext cx="5532120" cy="4160520"/>
          </a:xfrm>
          <a:prstGeom prst="roundRect">
            <a:avLst>
              <a:gd name="adj" fmla="val 2198"/>
            </a:avLst>
          </a:prstGeom>
          <a:solidFill>
            <a:srgbClr val="F3F7FB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 txBox="1"/>
          <p:nvPr/>
        </p:nvSpPr>
        <p:spPr>
          <a:xfrm>
            <a:off x="877824" y="1847088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TIME GOES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77824" y="2249424"/>
            <a:ext cx="384048" cy="384048"/>
          </a:xfrm>
          <a:prstGeom prst="ellipse">
            <a:avLst/>
          </a:prstGeom>
          <a:solidFill>
            <a:srgbClr val="3440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 txBox="1"/>
          <p:nvPr/>
        </p:nvSpPr>
        <p:spPr>
          <a:xfrm>
            <a:off x="877824" y="2249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408176" y="2231136"/>
            <a:ext cx="4343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are slow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1408176" y="246888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document exists; finding the right revision of it does not fit inside the decision window.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77824" y="2944368"/>
            <a:ext cx="384048" cy="384048"/>
          </a:xfrm>
          <a:prstGeom prst="ellipse">
            <a:avLst/>
          </a:prstGeom>
          <a:solidFill>
            <a:srgbClr val="3440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877824" y="2944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408176" y="2926080"/>
            <a:ext cx="4343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are inconsistent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408176" y="3163824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sites, two teams or two languages give different answers to the same question.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7824" y="3639312"/>
            <a:ext cx="384048" cy="384048"/>
          </a:xfrm>
          <a:prstGeom prst="ellipse">
            <a:avLst/>
          </a:prstGeom>
          <a:solidFill>
            <a:srgbClr val="3440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 txBox="1"/>
          <p:nvPr/>
        </p:nvSpPr>
        <p:spPr>
          <a:xfrm>
            <a:off x="877824" y="3639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408176" y="3621024"/>
            <a:ext cx="4343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are undefendable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1408176" y="385876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auditor asks where an answer came from, nobody can reconstruct the trail.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77824" y="4334256"/>
            <a:ext cx="384048" cy="384048"/>
          </a:xfrm>
          <a:prstGeom prst="ellipse">
            <a:avLst/>
          </a:prstGeom>
          <a:solidFill>
            <a:srgbClr val="3440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 txBox="1"/>
          <p:nvPr/>
        </p:nvSpPr>
        <p:spPr>
          <a:xfrm>
            <a:off x="877824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408176" y="4315968"/>
            <a:ext cx="4343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leaves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1408176" y="4553712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memory walks out with the people who hold it, and nothing captures what was lost.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77824" y="5029200"/>
            <a:ext cx="384048" cy="384048"/>
          </a:xfrm>
          <a:prstGeom prst="ellipse">
            <a:avLst/>
          </a:prstGeom>
          <a:solidFill>
            <a:srgbClr val="3440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877824" y="5029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408176" y="5010912"/>
            <a:ext cx="4343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 stay invisible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1408176" y="524865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knows which questions the organisation cannot currently answer until it matters.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483096" y="1920240"/>
            <a:ext cx="5111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D15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 returns documents.</a:t>
            </a:r>
            <a:endParaRPr lang="en-US" sz="2300" dirty="0"/>
          </a:p>
        </p:txBody>
      </p:sp>
      <p:sp>
        <p:nvSpPr>
          <p:cNvPr id="27" name="Text 25"/>
          <p:cNvSpPr txBox="1"/>
          <p:nvPr/>
        </p:nvSpPr>
        <p:spPr>
          <a:xfrm>
            <a:off x="6483096" y="2359152"/>
            <a:ext cx="5111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09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need answers.</a:t>
            </a:r>
            <a:endParaRPr lang="en-US" sz="2300" dirty="0"/>
          </a:p>
        </p:txBody>
      </p:sp>
      <p:sp>
        <p:nvSpPr>
          <p:cNvPr id="28" name="Text 26"/>
          <p:cNvSpPr txBox="1"/>
          <p:nvPr/>
        </p:nvSpPr>
        <p:spPr>
          <a:xfrm>
            <a:off x="6483096" y="3017520"/>
            <a:ext cx="51114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assistants return fluent answers. Regulated organisations need provenance. Knowledge Fabric is built for the space between the two — fluent answers that carry their evidence with them.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483096" y="4498848"/>
            <a:ext cx="5111496" cy="1252728"/>
          </a:xfrm>
          <a:prstGeom prst="roundRect">
            <a:avLst>
              <a:gd name="adj" fmla="val 7299"/>
            </a:avLst>
          </a:prstGeom>
          <a:solidFill>
            <a:srgbClr val="FFFAEB"/>
          </a:solidFill>
          <a:ln w="12700">
            <a:solidFill>
              <a:srgbClr val="FEC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 txBox="1"/>
          <p:nvPr/>
        </p:nvSpPr>
        <p:spPr>
          <a:xfrm>
            <a:off x="6757416" y="4700016"/>
            <a:ext cx="4562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50" i="1" dirty="0">
                <a:solidFill>
                  <a:srgbClr val="9337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damage is rarely a wrong answer. It is a slow one — or a confident one taken from a superseded revision.</a:t>
            </a:r>
            <a:endParaRPr lang="en-US" sz="1350" dirty="0"/>
          </a:p>
        </p:txBody>
      </p:sp>
      <p:pic>
        <p:nvPicPr>
          <p:cNvPr id="3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419088"/>
            <a:ext cx="173736" cy="173736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813816" y="642823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QualiZeal · AI Center of Excellence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15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an answer is produced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0584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stages — permissions applied before searching, evidence scored before writing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1685544" cy="2340864"/>
          </a:xfrm>
          <a:prstGeom prst="roundRect">
            <a:avLst>
              <a:gd name="adj" fmla="val 4882"/>
            </a:avLst>
          </a:prstGeom>
          <a:solidFill>
            <a:srgbClr val="FFFFFF"/>
          </a:solidFill>
          <a:ln w="12700">
            <a:solidFill>
              <a:srgbClr val="4338CA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768096" y="18288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EF0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 txBox="1"/>
          <p:nvPr/>
        </p:nvSpPr>
        <p:spPr>
          <a:xfrm>
            <a:off x="768096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2377440"/>
            <a:ext cx="1283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944368"/>
            <a:ext cx="12832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Asked in plain language, in the user’s language.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284476" y="2651760"/>
            <a:ext cx="118872" cy="155448"/>
          </a:xfrm>
          <a:prstGeom prst="rightArrow">
            <a:avLst/>
          </a:prstGeom>
          <a:solidFill>
            <a:srgbClr val="A5B0BE"/>
          </a:solidFill>
          <a:ln w="12700">
            <a:solidFill>
              <a:srgbClr val="A5B0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2435352" y="1627632"/>
            <a:ext cx="1685544" cy="2340864"/>
          </a:xfrm>
          <a:prstGeom prst="roundRect">
            <a:avLst>
              <a:gd name="adj" fmla="val 4882"/>
            </a:avLst>
          </a:prstGeom>
          <a:solidFill>
            <a:srgbClr val="FFFFFF"/>
          </a:solidFill>
          <a:ln w="12700">
            <a:solidFill>
              <a:srgbClr val="4338CA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2636520" y="18288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EF0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263652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636520" y="2377440"/>
            <a:ext cx="1283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scope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2636520" y="2944368"/>
            <a:ext cx="12832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sources this person may see are searched.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52900" y="2651760"/>
            <a:ext cx="118872" cy="155448"/>
          </a:xfrm>
          <a:prstGeom prst="rightArrow">
            <a:avLst/>
          </a:prstGeom>
          <a:solidFill>
            <a:srgbClr val="A5B0BE"/>
          </a:solidFill>
          <a:ln w="12700">
            <a:solidFill>
              <a:srgbClr val="A5B0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4303776" y="1627632"/>
            <a:ext cx="1685544" cy="2340864"/>
          </a:xfrm>
          <a:prstGeom prst="roundRect">
            <a:avLst>
              <a:gd name="adj" fmla="val 4882"/>
            </a:avLst>
          </a:prstGeom>
          <a:solidFill>
            <a:srgbClr val="FFFFFF"/>
          </a:solidFill>
          <a:ln w="12700">
            <a:solidFill>
              <a:srgbClr val="0086E6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4504944" y="18288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8F5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4504944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8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504944" y="2377440"/>
            <a:ext cx="1283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008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4504944" y="2944368"/>
            <a:ext cx="12832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Meaning-based and exact-term search, merged.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021324" y="2651760"/>
            <a:ext cx="118872" cy="155448"/>
          </a:xfrm>
          <a:prstGeom prst="rightArrow">
            <a:avLst/>
          </a:prstGeom>
          <a:solidFill>
            <a:srgbClr val="A5B0BE"/>
          </a:solidFill>
          <a:ln w="12700">
            <a:solidFill>
              <a:srgbClr val="A5B0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6172200" y="1627632"/>
            <a:ext cx="1685544" cy="2340864"/>
          </a:xfrm>
          <a:prstGeom prst="roundRect">
            <a:avLst>
              <a:gd name="adj" fmla="val 4882"/>
            </a:avLst>
          </a:prstGeom>
          <a:solidFill>
            <a:srgbClr val="FFFFFF"/>
          </a:solidFill>
          <a:ln w="12700">
            <a:solidFill>
              <a:srgbClr val="DC6803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6373368" y="18288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EF4E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 txBox="1"/>
          <p:nvPr/>
        </p:nvSpPr>
        <p:spPr>
          <a:xfrm>
            <a:off x="637336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C68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373368" y="2377440"/>
            <a:ext cx="1283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DC68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check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6373368" y="2944368"/>
            <a:ext cx="12832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scored before a word is written.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889748" y="2651760"/>
            <a:ext cx="118872" cy="155448"/>
          </a:xfrm>
          <a:prstGeom prst="rightArrow">
            <a:avLst/>
          </a:prstGeom>
          <a:solidFill>
            <a:srgbClr val="A5B0BE"/>
          </a:solidFill>
          <a:ln w="12700">
            <a:solidFill>
              <a:srgbClr val="A5B0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6"/>
          <p:cNvSpPr/>
          <p:nvPr/>
        </p:nvSpPr>
        <p:spPr>
          <a:xfrm>
            <a:off x="8040624" y="1627632"/>
            <a:ext cx="1685544" cy="2340864"/>
          </a:xfrm>
          <a:prstGeom prst="roundRect">
            <a:avLst>
              <a:gd name="adj" fmla="val 4882"/>
            </a:avLst>
          </a:prstGeom>
          <a:solidFill>
            <a:srgbClr val="FFFFFF"/>
          </a:solidFill>
          <a:ln w="12700">
            <a:solidFill>
              <a:srgbClr val="0086E6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8241792" y="18288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8F5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 txBox="1"/>
          <p:nvPr/>
        </p:nvSpPr>
        <p:spPr>
          <a:xfrm>
            <a:off x="8241792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8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241792" y="2377440"/>
            <a:ext cx="1283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008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endParaRPr lang="en-US" sz="1450" dirty="0"/>
          </a:p>
        </p:txBody>
      </p:sp>
      <p:sp>
        <p:nvSpPr>
          <p:cNvPr id="32" name="Text 30"/>
          <p:cNvSpPr txBox="1"/>
          <p:nvPr/>
        </p:nvSpPr>
        <p:spPr>
          <a:xfrm>
            <a:off x="8241792" y="2944368"/>
            <a:ext cx="12832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only from retrieved sources, citations inline.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9758172" y="2651760"/>
            <a:ext cx="118872" cy="155448"/>
          </a:xfrm>
          <a:prstGeom prst="rightArrow">
            <a:avLst/>
          </a:prstGeom>
          <a:solidFill>
            <a:srgbClr val="A5B0BE"/>
          </a:solidFill>
          <a:ln w="12700">
            <a:solidFill>
              <a:srgbClr val="A5B0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9909048" y="1627632"/>
            <a:ext cx="1685544" cy="2340864"/>
          </a:xfrm>
          <a:prstGeom prst="roundRect">
            <a:avLst>
              <a:gd name="adj" fmla="val 4882"/>
            </a:avLst>
          </a:prstGeom>
          <a:solidFill>
            <a:srgbClr val="FFFFFF"/>
          </a:solidFill>
          <a:ln w="12700">
            <a:solidFill>
              <a:srgbClr val="9333EA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10110216" y="18288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8EDF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 txBox="1"/>
          <p:nvPr/>
        </p:nvSpPr>
        <p:spPr>
          <a:xfrm>
            <a:off x="10110216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33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10110216" y="2377440"/>
            <a:ext cx="1283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933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answer</a:t>
            </a:r>
            <a:endParaRPr lang="en-US" sz="1450" dirty="0"/>
          </a:p>
        </p:txBody>
      </p:sp>
      <p:sp>
        <p:nvSpPr>
          <p:cNvPr id="38" name="Text 36"/>
          <p:cNvSpPr txBox="1"/>
          <p:nvPr/>
        </p:nvSpPr>
        <p:spPr>
          <a:xfrm>
            <a:off x="10110216" y="2944368"/>
            <a:ext cx="12832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with citations and a confidence level.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66928" y="4206240"/>
            <a:ext cx="11027664" cy="1572768"/>
          </a:xfrm>
          <a:prstGeom prst="roundRect">
            <a:avLst>
              <a:gd name="adj" fmla="val 5814"/>
            </a:avLst>
          </a:prstGeom>
          <a:solidFill>
            <a:srgbClr val="FFFBF2"/>
          </a:solidFill>
          <a:ln w="15875">
            <a:solidFill>
              <a:srgbClr val="FDB02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566928" y="4206240"/>
            <a:ext cx="11027664" cy="420624"/>
          </a:xfrm>
          <a:prstGeom prst="roundRect">
            <a:avLst>
              <a:gd name="adj" fmla="val 21739"/>
            </a:avLst>
          </a:prstGeom>
          <a:solidFill>
            <a:srgbClr val="DC6803"/>
          </a:solidFill>
          <a:ln w="12700">
            <a:solidFill>
              <a:srgbClr val="DC680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 txBox="1"/>
          <p:nvPr/>
        </p:nvSpPr>
        <p:spPr>
          <a:xfrm>
            <a:off x="841248" y="4078224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CLARIFY-BACK  ·  ASK, DON’T REFUSE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7662672" y="4206240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FFE7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recovery path, not a dead end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841248" y="4754880"/>
            <a:ext cx="3334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337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threshold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841248" y="5029200"/>
            <a:ext cx="3334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A5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targeted question goes back to the user — which entity, which process area, what level of detail. One question, never an interrogation.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4413504" y="4754880"/>
            <a:ext cx="3334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337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Refined query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13504" y="5029200"/>
            <a:ext cx="3334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A5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added constraint is folded into a fresh retrieval. In most cases this lifts the evidence above the threshold and the answer proceeds normally.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7985760" y="4754880"/>
            <a:ext cx="3334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337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insufficient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7985760" y="5029200"/>
            <a:ext cx="3334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A5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returns the nearest approved sources and guidance on how to rephrase. Never a bare refusal, and never an invented answer.</a:t>
            </a:r>
            <a:endParaRPr lang="en-US" sz="1150" dirty="0"/>
          </a:p>
        </p:txBody>
      </p:sp>
      <p:pic>
        <p:nvPicPr>
          <p:cNvPr id="4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419088"/>
            <a:ext cx="173736" cy="173736"/>
          </a:xfrm>
          <a:prstGeom prst="rect">
            <a:avLst/>
          </a:prstGeom>
        </p:spPr>
      </p:pic>
      <p:sp>
        <p:nvSpPr>
          <p:cNvPr id="50" name="Text 47"/>
          <p:cNvSpPr txBox="1"/>
          <p:nvPr/>
        </p:nvSpPr>
        <p:spPr>
          <a:xfrm>
            <a:off x="813816" y="642823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QualiZeal · AI Center of Excellence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0" descr="/mnt/user-data/outputs/knowledge-fabric-architectu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011" y="0"/>
            <a:ext cx="10325039" cy="6858000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6419088"/>
            <a:ext cx="173736" cy="1737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15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each zone does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0584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system, five responsibilities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66928" y="1609344"/>
            <a:ext cx="2044598" cy="2761488"/>
          </a:xfrm>
          <a:prstGeom prst="roundRect">
            <a:avLst>
              <a:gd name="adj" fmla="val 4025"/>
            </a:avLst>
          </a:prstGeom>
          <a:solidFill>
            <a:srgbClr val="FFFFFF"/>
          </a:solidFill>
          <a:ln w="12700">
            <a:solidFill>
              <a:srgbClr val="4338CA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566928" y="1609344"/>
            <a:ext cx="2044598" cy="566928"/>
          </a:xfrm>
          <a:prstGeom prst="roundRect">
            <a:avLst>
              <a:gd name="adj" fmla="val 14516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 txBox="1"/>
          <p:nvPr/>
        </p:nvSpPr>
        <p:spPr>
          <a:xfrm>
            <a:off x="731520" y="1609344"/>
            <a:ext cx="17154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and roles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267712"/>
            <a:ext cx="171541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ask, and what they may see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724912"/>
            <a:ext cx="1770278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7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</a:t>
            </a:r>
            <a:endParaRPr lang="en-US" sz="117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7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application</a:t>
            </a:r>
            <a:endParaRPr lang="en-US" sz="117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7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sign-on</a:t>
            </a:r>
            <a:endParaRPr lang="en-US" sz="117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7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API</a:t>
            </a:r>
            <a:endParaRPr lang="en-US" sz="1170" dirty="0"/>
          </a:p>
        </p:txBody>
      </p:sp>
      <p:sp>
        <p:nvSpPr>
          <p:cNvPr id="9" name="Shape 7"/>
          <p:cNvSpPr/>
          <p:nvPr/>
        </p:nvSpPr>
        <p:spPr>
          <a:xfrm>
            <a:off x="2812694" y="1609344"/>
            <a:ext cx="2044598" cy="2761488"/>
          </a:xfrm>
          <a:prstGeom prst="roundRect">
            <a:avLst>
              <a:gd name="adj" fmla="val 4025"/>
            </a:avLst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2812694" y="1609344"/>
            <a:ext cx="2044598" cy="566928"/>
          </a:xfrm>
          <a:prstGeom prst="roundRect">
            <a:avLst>
              <a:gd name="adj" fmla="val 14516"/>
            </a:avLst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2977286" y="1609344"/>
            <a:ext cx="17154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pipeline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977286" y="2267712"/>
            <a:ext cx="171541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of record to index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977286" y="2724912"/>
            <a:ext cx="1770278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7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of record</a:t>
            </a:r>
            <a:endParaRPr lang="en-US" sz="117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7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intake</a:t>
            </a:r>
            <a:endParaRPr lang="en-US" sz="117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7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and rank</a:t>
            </a:r>
            <a:endParaRPr lang="en-US" sz="117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7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 and resolve</a:t>
            </a:r>
            <a:endParaRPr lang="en-US" sz="117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7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sync</a:t>
            </a:r>
            <a:endParaRPr lang="en-US" sz="1170" dirty="0"/>
          </a:p>
        </p:txBody>
      </p:sp>
      <p:sp>
        <p:nvSpPr>
          <p:cNvPr id="14" name="Shape 12"/>
          <p:cNvSpPr/>
          <p:nvPr/>
        </p:nvSpPr>
        <p:spPr>
          <a:xfrm>
            <a:off x="5058461" y="1609344"/>
            <a:ext cx="2044598" cy="2761488"/>
          </a:xfrm>
          <a:prstGeom prst="roundRect">
            <a:avLst>
              <a:gd name="adj" fmla="val 4025"/>
            </a:avLst>
          </a:prstGeom>
          <a:solidFill>
            <a:srgbClr val="FFFFFF"/>
          </a:solidFill>
          <a:ln w="12700">
            <a:solidFill>
              <a:srgbClr val="0086E6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5058461" y="1609344"/>
            <a:ext cx="2044598" cy="566928"/>
          </a:xfrm>
          <a:prstGeom prst="roundRect">
            <a:avLst>
              <a:gd name="adj" fmla="val 14516"/>
            </a:avLst>
          </a:prstGeom>
          <a:solidFill>
            <a:srgbClr val="0086E6"/>
          </a:solidFill>
          <a:ln w="12700">
            <a:solidFill>
              <a:srgbClr val="0086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5223053" y="1609344"/>
            <a:ext cx="17154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answering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223053" y="2267712"/>
            <a:ext cx="171541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 is assembled here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223053" y="2724912"/>
            <a:ext cx="1770278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7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117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7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check</a:t>
            </a:r>
            <a:endParaRPr lang="en-US" sz="117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7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endParaRPr lang="en-US" sz="117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7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Clarify-back</a:t>
            </a:r>
            <a:endParaRPr lang="en-US" sz="1170" dirty="0"/>
          </a:p>
        </p:txBody>
      </p:sp>
      <p:sp>
        <p:nvSpPr>
          <p:cNvPr id="19" name="Shape 17"/>
          <p:cNvSpPr/>
          <p:nvPr/>
        </p:nvSpPr>
        <p:spPr>
          <a:xfrm>
            <a:off x="7304227" y="1609344"/>
            <a:ext cx="2044598" cy="2761488"/>
          </a:xfrm>
          <a:prstGeom prst="roundRect">
            <a:avLst>
              <a:gd name="adj" fmla="val 4025"/>
            </a:avLst>
          </a:prstGeom>
          <a:solidFill>
            <a:srgbClr val="FFFFFF"/>
          </a:solidFill>
          <a:ln w="12700">
            <a:solidFill>
              <a:srgbClr val="9333EA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7304227" y="1609344"/>
            <a:ext cx="2044598" cy="566928"/>
          </a:xfrm>
          <a:prstGeom prst="roundRect">
            <a:avLst>
              <a:gd name="adj" fmla="val 14516"/>
            </a:avLst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 txBox="1"/>
          <p:nvPr/>
        </p:nvSpPr>
        <p:spPr>
          <a:xfrm>
            <a:off x="7468819" y="1609344"/>
            <a:ext cx="17154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and telemetry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468819" y="2267712"/>
            <a:ext cx="171541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that it worked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468819" y="2724912"/>
            <a:ext cx="1770278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7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Per-answer scoring</a:t>
            </a:r>
            <a:endParaRPr lang="en-US" sz="117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7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</a:t>
            </a:r>
            <a:endParaRPr lang="en-US" sz="117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7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Usage, cost and quality</a:t>
            </a:r>
            <a:endParaRPr lang="en-US" sz="117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7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and export</a:t>
            </a:r>
            <a:endParaRPr lang="en-US" sz="1170" dirty="0"/>
          </a:p>
        </p:txBody>
      </p:sp>
      <p:sp>
        <p:nvSpPr>
          <p:cNvPr id="24" name="Shape 22"/>
          <p:cNvSpPr/>
          <p:nvPr/>
        </p:nvSpPr>
        <p:spPr>
          <a:xfrm>
            <a:off x="9549994" y="1609344"/>
            <a:ext cx="2044598" cy="2761488"/>
          </a:xfrm>
          <a:prstGeom prst="roundRect">
            <a:avLst>
              <a:gd name="adj" fmla="val 4025"/>
            </a:avLst>
          </a:prstGeom>
          <a:solidFill>
            <a:srgbClr val="FFFFFF"/>
          </a:solidFill>
          <a:ln w="12700">
            <a:solidFill>
              <a:srgbClr val="344054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9549994" y="1609344"/>
            <a:ext cx="2044598" cy="566928"/>
          </a:xfrm>
          <a:prstGeom prst="roundRect">
            <a:avLst>
              <a:gd name="adj" fmla="val 14516"/>
            </a:avLst>
          </a:prstGeom>
          <a:solidFill>
            <a:srgbClr val="344054"/>
          </a:solidFill>
          <a:ln w="12700">
            <a:solidFill>
              <a:srgbClr val="34405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9714586" y="1609344"/>
            <a:ext cx="17154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and operations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714586" y="2267712"/>
            <a:ext cx="171541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underpins every zone above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714586" y="2724912"/>
            <a:ext cx="1770278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7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networking</a:t>
            </a:r>
            <a:endParaRPr lang="en-US" sz="117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7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management</a:t>
            </a:r>
            <a:endParaRPr lang="en-US" sz="117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7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</a:t>
            </a:r>
            <a:endParaRPr lang="en-US" sz="117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7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protection</a:t>
            </a:r>
            <a:endParaRPr lang="en-US" sz="117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7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170" dirty="0"/>
          </a:p>
        </p:txBody>
      </p:sp>
      <p:sp>
        <p:nvSpPr>
          <p:cNvPr id="29" name="Shape 27"/>
          <p:cNvSpPr/>
          <p:nvPr/>
        </p:nvSpPr>
        <p:spPr>
          <a:xfrm>
            <a:off x="566928" y="4718304"/>
            <a:ext cx="11027664" cy="969264"/>
          </a:xfrm>
          <a:prstGeom prst="roundRect">
            <a:avLst>
              <a:gd name="adj" fmla="val 9434"/>
            </a:avLst>
          </a:prstGeom>
          <a:solidFill>
            <a:srgbClr val="F7F2FF"/>
          </a:solidFill>
          <a:ln w="15875">
            <a:solidFill>
              <a:srgbClr val="D9C7F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 txBox="1"/>
          <p:nvPr/>
        </p:nvSpPr>
        <p:spPr>
          <a:xfrm>
            <a:off x="877824" y="4901184"/>
            <a:ext cx="104058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zones close into a loop.  </a:t>
            </a:r>
            <a:r>
              <a:rPr lang="en-US" sz="135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the corpus cannot yet answer travel from telemetry back to the content pipeline as a ranked backlog, so the platform improves from real use rather than guesswork.</a:t>
            </a:r>
            <a:endParaRPr lang="en-US" sz="1350" dirty="0"/>
          </a:p>
        </p:txBody>
      </p:sp>
      <p:pic>
        <p:nvPicPr>
          <p:cNvPr id="3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419088"/>
            <a:ext cx="173736" cy="173736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813816" y="642823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QualiZeal · AI Center of Excellence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15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Functional coverage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0584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as one platform — the list describes scope, not a menu</a:t>
            </a:r>
            <a:endParaRPr lang="en-US" sz="14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36192"/>
          <a:ext cx="10991088" cy="4303776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155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066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Capability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audience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b="1" dirty="0">
                          <a:solidFill>
                            <a:srgbClr val="0D15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Grounded answering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Plain-language answers assembled only from approved sources, never from general world knowledge.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Everyone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b="1" dirty="0">
                          <a:solidFill>
                            <a:srgbClr val="0D15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Verbatim citation and lineage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claim carries its source, down to document, page and paragraph.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Quality, audit, legal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b="1" dirty="0">
                          <a:solidFill>
                            <a:srgbClr val="0D15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Confidence scoring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visible high / medium / low level on every answer, derived from evidence strength.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Everyone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b="1" dirty="0">
                          <a:solidFill>
                            <a:srgbClr val="0D15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Clarify-back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targeted question when evidence is thin, instead of a refusal or a guess.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Everyone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b="1" dirty="0">
                          <a:solidFill>
                            <a:srgbClr val="0D15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Entity and relationship graph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Explore how products, processes, regulations and records connect to one another.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Engineering, quality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b="1" dirty="0">
                          <a:solidFill>
                            <a:srgbClr val="0D15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health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Coverage, connectivity, provenance, extraction quality and freshness, with gaps ranked.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owners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b="1" dirty="0">
                          <a:solidFill>
                            <a:srgbClr val="0D15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 and status awareness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revisions outrank superseded ones; draft material is excluded unless requested.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Quality, operations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b="1" dirty="0">
                          <a:solidFill>
                            <a:srgbClr val="0D15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Multilingual answering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Ask and answer in the user’s language; translated material is labelled as translated.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operations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b="1" dirty="0">
                          <a:solidFill>
                            <a:srgbClr val="0D15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Curator workbench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human queue for conflicts, duplicates and superseded documents.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owners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b="1" dirty="0">
                          <a:solidFill>
                            <a:srgbClr val="0D15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Role-scoped access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Permissions applied before ranking, so unauthorised content never enters a result.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Security, IT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b="1" dirty="0">
                          <a:solidFill>
                            <a:srgbClr val="0D15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Usage and quality dashboards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Consumption, question categories, clarification and refusal rates over time.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Sponsors, IT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b="1" dirty="0">
                          <a:solidFill>
                            <a:srgbClr val="0D15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APIs and embedding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answer flow exposed to other applications and portals through a governed interface.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IT, product teams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419088"/>
            <a:ext cx="173736" cy="17373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13816" y="642823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QualiZeal · AI Center of Excellence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15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platform covers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0584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is broad because the questions people ask do not respect system boundaries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66928" y="1609344"/>
            <a:ext cx="3505200" cy="1901952"/>
          </a:xfrm>
          <a:prstGeom prst="roundRect">
            <a:avLst>
              <a:gd name="adj" fmla="val 4327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804672" y="1847088"/>
            <a:ext cx="402336" cy="402336"/>
          </a:xfrm>
          <a:prstGeom prst="roundRect">
            <a:avLst>
              <a:gd name="adj" fmla="val 25000"/>
            </a:avLst>
          </a:prstGeom>
          <a:solidFill>
            <a:srgbClr val="E8F5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932688" y="1975104"/>
            <a:ext cx="146304" cy="146304"/>
          </a:xfrm>
          <a:prstGeom prst="ellipse">
            <a:avLst/>
          </a:prstGeom>
          <a:solidFill>
            <a:srgbClr val="0086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 txBox="1"/>
          <p:nvPr/>
        </p:nvSpPr>
        <p:spPr>
          <a:xfrm>
            <a:off x="1335024" y="1883664"/>
            <a:ext cx="249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8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formats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395728"/>
            <a:ext cx="3029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and scanned documents, office formats, presentations, spreadsheets, structured exports and web content. Scanned material is processed so its text becomes searchable and citable.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28160" y="1609344"/>
            <a:ext cx="3505200" cy="1901952"/>
          </a:xfrm>
          <a:prstGeom prst="roundRect">
            <a:avLst>
              <a:gd name="adj" fmla="val 4327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4565904" y="1847088"/>
            <a:ext cx="402336" cy="402336"/>
          </a:xfrm>
          <a:prstGeom prst="roundRect">
            <a:avLst>
              <a:gd name="adj" fmla="val 25000"/>
            </a:avLst>
          </a:prstGeom>
          <a:solidFill>
            <a:srgbClr val="E7F8F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4693920" y="1975104"/>
            <a:ext cx="146304" cy="146304"/>
          </a:xfrm>
          <a:prstGeom prst="ellipse">
            <a:avLst/>
          </a:prstGeom>
          <a:solidFill>
            <a:srgbClr val="04785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5096256" y="1883664"/>
            <a:ext cx="249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systems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565904" y="2395728"/>
            <a:ext cx="3029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management and quality systems, engineering and product lifecycle systems, ticketing and service desks, wikis and intranets, shared drives, and regulatory or public registries.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89392" y="1609344"/>
            <a:ext cx="3505200" cy="1901952"/>
          </a:xfrm>
          <a:prstGeom prst="roundRect">
            <a:avLst>
              <a:gd name="adj" fmla="val 4327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8327136" y="1847088"/>
            <a:ext cx="402336" cy="402336"/>
          </a:xfrm>
          <a:prstGeom prst="roundRect">
            <a:avLst>
              <a:gd name="adj" fmla="val 25000"/>
            </a:avLst>
          </a:prstGeom>
          <a:solidFill>
            <a:srgbClr val="EEF0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8455152" y="1975104"/>
            <a:ext cx="146304" cy="146304"/>
          </a:xfrm>
          <a:prstGeom prst="ellipse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 txBox="1"/>
          <p:nvPr/>
        </p:nvSpPr>
        <p:spPr>
          <a:xfrm>
            <a:off x="8857488" y="1883664"/>
            <a:ext cx="249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types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327136" y="2395728"/>
            <a:ext cx="3029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operating procedures, work instructions, policies, specifications, manuals, validation and test records, audit findings, contracts, correspondence and training material.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3730752"/>
            <a:ext cx="3505200" cy="1901952"/>
          </a:xfrm>
          <a:prstGeom prst="roundRect">
            <a:avLst>
              <a:gd name="adj" fmla="val 4327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804672" y="3968496"/>
            <a:ext cx="402336" cy="402336"/>
          </a:xfrm>
          <a:prstGeom prst="roundRect">
            <a:avLst>
              <a:gd name="adj" fmla="val 25000"/>
            </a:avLst>
          </a:prstGeom>
          <a:solidFill>
            <a:srgbClr val="F8EDF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932688" y="4096512"/>
            <a:ext cx="146304" cy="146304"/>
          </a:xfrm>
          <a:prstGeom prst="ellipse">
            <a:avLst/>
          </a:prstGeom>
          <a:solidFill>
            <a:srgbClr val="9333E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 txBox="1"/>
          <p:nvPr/>
        </p:nvSpPr>
        <p:spPr>
          <a:xfrm>
            <a:off x="1335024" y="4005072"/>
            <a:ext cx="249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933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functions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804672" y="4517136"/>
            <a:ext cx="3029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and compliance, engineering and manufacturing, service and support, operations, procurement, legal, and people functions.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28160" y="3730752"/>
            <a:ext cx="3505200" cy="1901952"/>
          </a:xfrm>
          <a:prstGeom prst="roundRect">
            <a:avLst>
              <a:gd name="adj" fmla="val 4327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4565904" y="3968496"/>
            <a:ext cx="402336" cy="402336"/>
          </a:xfrm>
          <a:prstGeom prst="roundRect">
            <a:avLst>
              <a:gd name="adj" fmla="val 25000"/>
            </a:avLst>
          </a:prstGeom>
          <a:solidFill>
            <a:srgbClr val="FEF4E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4693920" y="4096512"/>
            <a:ext cx="146304" cy="146304"/>
          </a:xfrm>
          <a:prstGeom prst="ellipse">
            <a:avLst/>
          </a:prstGeom>
          <a:solidFill>
            <a:srgbClr val="DC680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 txBox="1"/>
          <p:nvPr/>
        </p:nvSpPr>
        <p:spPr>
          <a:xfrm>
            <a:off x="5096256" y="4005072"/>
            <a:ext cx="249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DC68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4565904" y="4517136"/>
            <a:ext cx="3029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corpora and multilingual users, with the answer returned in the language of the question and any translated passage labelled.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089392" y="3730752"/>
            <a:ext cx="3505200" cy="1901952"/>
          </a:xfrm>
          <a:prstGeom prst="roundRect">
            <a:avLst>
              <a:gd name="adj" fmla="val 4327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8327136" y="3968496"/>
            <a:ext cx="402336" cy="402336"/>
          </a:xfrm>
          <a:prstGeom prst="roundRect">
            <a:avLst>
              <a:gd name="adj" fmla="val 25000"/>
            </a:avLst>
          </a:prstGeom>
          <a:solidFill>
            <a:srgbClr val="EEF1F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8455152" y="4096512"/>
            <a:ext cx="146304" cy="146304"/>
          </a:xfrm>
          <a:prstGeom prst="ellipse">
            <a:avLst/>
          </a:prstGeom>
          <a:solidFill>
            <a:srgbClr val="3440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 txBox="1"/>
          <p:nvPr/>
        </p:nvSpPr>
        <p:spPr>
          <a:xfrm>
            <a:off x="8857488" y="4005072"/>
            <a:ext cx="249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shapes</a:t>
            </a:r>
            <a:endParaRPr lang="en-US" sz="1450" dirty="0"/>
          </a:p>
        </p:txBody>
      </p:sp>
      <p:sp>
        <p:nvSpPr>
          <p:cNvPr id="33" name="Text 31"/>
          <p:cNvSpPr txBox="1"/>
          <p:nvPr/>
        </p:nvSpPr>
        <p:spPr>
          <a:xfrm>
            <a:off x="8327136" y="4517136"/>
            <a:ext cx="3029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Factual lookup, procedural how-to, comparison across documents, status and version checks, and relationship questions across entities.</a:t>
            </a:r>
            <a:endParaRPr lang="en-US" sz="1150" dirty="0"/>
          </a:p>
        </p:txBody>
      </p:sp>
      <p:pic>
        <p:nvPicPr>
          <p:cNvPr id="3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419088"/>
            <a:ext cx="173736" cy="173736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813816" y="642823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QualiZeal · AI Center of Excellence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15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delivered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0584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group gets — stated without reference to commercial figures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66928" y="1609344"/>
            <a:ext cx="2059229" cy="4114800"/>
          </a:xfrm>
          <a:prstGeom prst="roundRect">
            <a:avLst>
              <a:gd name="adj" fmla="val 3996"/>
            </a:avLst>
          </a:prstGeom>
          <a:solidFill>
            <a:srgbClr val="FFFFFF"/>
          </a:solidFill>
          <a:ln w="12700">
            <a:solidFill>
              <a:srgbClr val="0086E6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768096" y="1847088"/>
            <a:ext cx="310896" cy="45720"/>
          </a:xfrm>
          <a:prstGeom prst="rect">
            <a:avLst/>
          </a:prstGeom>
          <a:solidFill>
            <a:srgbClr val="0086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 txBox="1"/>
          <p:nvPr/>
        </p:nvSpPr>
        <p:spPr>
          <a:xfrm>
            <a:off x="768096" y="2011680"/>
            <a:ext cx="165689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008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Frontline and operations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2743200"/>
            <a:ext cx="1748333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current, approved answer arrives in seconds instead of after a search through revisions.</a:t>
            </a:r>
            <a:endParaRPr lang="en-US" sz="11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question gets the same answer across sites, shifts and languages.</a:t>
            </a:r>
            <a:endParaRPr lang="en-US" sz="11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joiners become productive without a colleague acting as their search index.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809037" y="1609344"/>
            <a:ext cx="2059229" cy="4114800"/>
          </a:xfrm>
          <a:prstGeom prst="roundRect">
            <a:avLst>
              <a:gd name="adj" fmla="val 3996"/>
            </a:avLst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3010205" y="1847088"/>
            <a:ext cx="310896" cy="45720"/>
          </a:xfrm>
          <a:prstGeom prst="rect">
            <a:avLst/>
          </a:prstGeom>
          <a:solidFill>
            <a:srgbClr val="04785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 txBox="1"/>
          <p:nvPr/>
        </p:nvSpPr>
        <p:spPr>
          <a:xfrm>
            <a:off x="3010205" y="2011680"/>
            <a:ext cx="165689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Quality, compliance and audit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3010205" y="2743200"/>
            <a:ext cx="1748333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answer can be reconstructed to the document, page and paragraph it came from.</a:t>
            </a:r>
            <a:endParaRPr lang="en-US" sz="11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Superseded revisions stop circulating as if they were current.</a:t>
            </a:r>
            <a:endParaRPr lang="en-US" sz="11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refusal and clarification record shows exactly where documented knowledge is thin.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51146" y="1609344"/>
            <a:ext cx="2059229" cy="4114800"/>
          </a:xfrm>
          <a:prstGeom prst="roundRect">
            <a:avLst>
              <a:gd name="adj" fmla="val 3996"/>
            </a:avLst>
          </a:prstGeom>
          <a:solidFill>
            <a:srgbClr val="FFFFFF"/>
          </a:solidFill>
          <a:ln w="12700">
            <a:solidFill>
              <a:srgbClr val="4338CA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5252314" y="1847088"/>
            <a:ext cx="310896" cy="4572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5252314" y="2011680"/>
            <a:ext cx="165689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and technical teams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5252314" y="2743200"/>
            <a:ext cx="1748333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Relationships between products, processes, regulations and records become explorable rather than tribal.</a:t>
            </a:r>
            <a:endParaRPr lang="en-US" sz="11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work, decisions and test evidence surface at the moment they are relevant.</a:t>
            </a:r>
            <a:endParaRPr lang="en-US" sz="11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spent reconstructing context is returned to engineering work.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293254" y="1609344"/>
            <a:ext cx="2059229" cy="4114800"/>
          </a:xfrm>
          <a:prstGeom prst="roundRect">
            <a:avLst>
              <a:gd name="adj" fmla="val 3996"/>
            </a:avLst>
          </a:prstGeom>
          <a:solidFill>
            <a:srgbClr val="FFFFFF"/>
          </a:solidFill>
          <a:ln w="12700">
            <a:solidFill>
              <a:srgbClr val="9333EA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7494422" y="1847088"/>
            <a:ext cx="310896" cy="45720"/>
          </a:xfrm>
          <a:prstGeom prst="rect">
            <a:avLst/>
          </a:prstGeom>
          <a:solidFill>
            <a:srgbClr val="9333E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7494422" y="2011680"/>
            <a:ext cx="165689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933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and sponsors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7494422" y="2743200"/>
            <a:ext cx="1748333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memory becomes an asset the organisation holds rather than one its people carry.</a:t>
            </a:r>
            <a:endParaRPr lang="en-US" sz="11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and quality are visible, so the platform can be governed on evidence.</a:t>
            </a:r>
            <a:endParaRPr lang="en-US" sz="11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gaps arrive as a ranked backlog, turning content investment into a prioritised plan.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535363" y="1609344"/>
            <a:ext cx="2059229" cy="4114800"/>
          </a:xfrm>
          <a:prstGeom prst="roundRect">
            <a:avLst>
              <a:gd name="adj" fmla="val 3996"/>
            </a:avLst>
          </a:prstGeom>
          <a:solidFill>
            <a:srgbClr val="FFFFFF"/>
          </a:solidFill>
          <a:ln w="12700">
            <a:solidFill>
              <a:srgbClr val="344054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9736531" y="1847088"/>
            <a:ext cx="310896" cy="45720"/>
          </a:xfrm>
          <a:prstGeom prst="rect">
            <a:avLst/>
          </a:prstGeom>
          <a:solidFill>
            <a:srgbClr val="3440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 txBox="1"/>
          <p:nvPr/>
        </p:nvSpPr>
        <p:spPr>
          <a:xfrm>
            <a:off x="9736531" y="2011680"/>
            <a:ext cx="165689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and security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9736531" y="2743200"/>
            <a:ext cx="1748333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Identity, permissions and network controls are the ones the organisation already operates.</a:t>
            </a:r>
            <a:endParaRPr lang="en-US" sz="11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stays inside the customer’s boundary; residency and retention follow existing policy.</a:t>
            </a:r>
            <a:endParaRPr lang="en-US" sz="11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component is a lock-in: model, vector store and cloud are all substitutable.</a:t>
            </a:r>
            <a:endParaRPr lang="en-US" sz="1150" dirty="0"/>
          </a:p>
        </p:txBody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419088"/>
            <a:ext cx="173736" cy="173736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813816" y="642823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QualiZeal · AI Center of Excellence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  <p:transition spd="slow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15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Deployment and portability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0584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platform pattern, not a bet on a single vendor</a:t>
            </a:r>
            <a:endParaRPr lang="en-US" sz="14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5532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PLUGGABLE BY DESIGN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993392"/>
            <a:ext cx="5532120" cy="694944"/>
          </a:xfrm>
          <a:prstGeom prst="roundRect">
            <a:avLst>
              <a:gd name="adj" fmla="val 11842"/>
            </a:avLst>
          </a:prstGeom>
          <a:solidFill>
            <a:srgbClr val="FFF5F7"/>
          </a:solidFill>
          <a:ln w="12700">
            <a:solidFill>
              <a:srgbClr val="F53E5A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 txBox="1"/>
          <p:nvPr/>
        </p:nvSpPr>
        <p:spPr>
          <a:xfrm>
            <a:off x="804672" y="20848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8C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provider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340864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24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the organisation already runs for single sign-on.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816352"/>
            <a:ext cx="5532120" cy="694944"/>
          </a:xfrm>
          <a:prstGeom prst="roundRect">
            <a:avLst>
              <a:gd name="adj" fmla="val 11842"/>
            </a:avLst>
          </a:prstGeom>
          <a:solidFill>
            <a:srgbClr val="FFF5F7"/>
          </a:solidFill>
          <a:ln w="12700">
            <a:solidFill>
              <a:srgbClr val="F53E5A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 txBox="1"/>
          <p:nvPr/>
        </p:nvSpPr>
        <p:spPr>
          <a:xfrm>
            <a:off x="804672" y="2907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8C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model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3163824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24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or self-hosted, selected for language coverage and residency.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639312"/>
            <a:ext cx="5532120" cy="694944"/>
          </a:xfrm>
          <a:prstGeom prst="roundRect">
            <a:avLst>
              <a:gd name="adj" fmla="val 11842"/>
            </a:avLst>
          </a:prstGeom>
          <a:solidFill>
            <a:srgbClr val="FFF5F7"/>
          </a:solidFill>
          <a:ln w="12700">
            <a:solidFill>
              <a:srgbClr val="F53E5A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804672" y="37307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8C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store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804672" y="3986784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24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or in-tenant, selected to match the existing data platform.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462272"/>
            <a:ext cx="5532120" cy="694944"/>
          </a:xfrm>
          <a:prstGeom prst="roundRect">
            <a:avLst>
              <a:gd name="adj" fmla="val 11842"/>
            </a:avLst>
          </a:prstGeom>
          <a:solidFill>
            <a:srgbClr val="FFF5F7"/>
          </a:solidFill>
          <a:ln w="12700">
            <a:solidFill>
              <a:srgbClr val="F53E5A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 txBox="1"/>
          <p:nvPr/>
        </p:nvSpPr>
        <p:spPr>
          <a:xfrm>
            <a:off x="804672" y="45537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8C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model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804672" y="4809744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24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API, in-tenant deployment or self-hosted, per the control environment.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483096" y="1627632"/>
            <a:ext cx="5111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MODES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83096" y="1993392"/>
            <a:ext cx="5111496" cy="969264"/>
          </a:xfrm>
          <a:prstGeom prst="roundRect">
            <a:avLst>
              <a:gd name="adj" fmla="val 8491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6720840" y="2267712"/>
            <a:ext cx="384048" cy="384048"/>
          </a:xfrm>
          <a:prstGeom prst="ellipse">
            <a:avLst/>
          </a:prstGeom>
          <a:solidFill>
            <a:srgbClr val="0086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672084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269480" y="2194560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service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2487168"/>
            <a:ext cx="4105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to stand up. Suited to pilots and to content that is not restricted.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83096" y="3090672"/>
            <a:ext cx="5111496" cy="969264"/>
          </a:xfrm>
          <a:prstGeom prst="roundRect">
            <a:avLst>
              <a:gd name="adj" fmla="val 8491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6720840" y="3364992"/>
            <a:ext cx="384048" cy="384048"/>
          </a:xfrm>
          <a:prstGeom prst="ellipse">
            <a:avLst/>
          </a:prstGeom>
          <a:solidFill>
            <a:srgbClr val="0086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 txBox="1"/>
          <p:nvPr/>
        </p:nvSpPr>
        <p:spPr>
          <a:xfrm>
            <a:off x="6720840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269480" y="3291840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In-tenant deployment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269480" y="3584448"/>
            <a:ext cx="4105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inside the customer’s own cloud account and network boundary. The common production choice.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83096" y="4187952"/>
            <a:ext cx="5111496" cy="969264"/>
          </a:xfrm>
          <a:prstGeom prst="roundRect">
            <a:avLst>
              <a:gd name="adj" fmla="val 8491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6720840" y="4462272"/>
            <a:ext cx="384048" cy="384048"/>
          </a:xfrm>
          <a:prstGeom prst="ellipse">
            <a:avLst/>
          </a:prstGeom>
          <a:solidFill>
            <a:srgbClr val="0086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 txBox="1"/>
          <p:nvPr/>
        </p:nvSpPr>
        <p:spPr>
          <a:xfrm>
            <a:off x="6720840" y="4462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7269480" y="4389120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or disconnected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269480" y="4681728"/>
            <a:ext cx="4105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models with no external calls, for the most tightly controlled environments.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483096" y="5358384"/>
            <a:ext cx="5111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customer changes cloud, identity provider or model, the pattern survives and the delivered work is not discarded.</a:t>
            </a:r>
            <a:endParaRPr lang="en-US" sz="1200" dirty="0"/>
          </a:p>
        </p:txBody>
      </p:sp>
      <p:pic>
        <p:nvPicPr>
          <p:cNvPr id="3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419088"/>
            <a:ext cx="173736" cy="173736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813816" y="642823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QualiZeal · AI Center of Excellence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  <p:transition spd="slow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15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Delivery approach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0584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phase ends with something the organisation can evaluate on its own terms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66928" y="1700784"/>
            <a:ext cx="2578608" cy="393192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4338CA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566928" y="1700784"/>
            <a:ext cx="2578608" cy="822960"/>
          </a:xfrm>
          <a:prstGeom prst="roundRect">
            <a:avLst>
              <a:gd name="adj" fmla="val 100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 txBox="1"/>
          <p:nvPr/>
        </p:nvSpPr>
        <p:spPr>
          <a:xfrm>
            <a:off x="786384" y="1810512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029968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Discover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2093976" y="208483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2706624"/>
            <a:ext cx="21396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assessment and use-case selection. We inventory the candidate content, test how well it is structured, identify the questions that matter most, and agree what a good answer looks like.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86384" y="4498848"/>
            <a:ext cx="274320" cy="41148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786384" y="4645152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i="1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readiness assessment, prioritised question set, target architecture.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195828" y="3611880"/>
            <a:ext cx="137160" cy="173736"/>
          </a:xfrm>
          <a:prstGeom prst="rightArrow">
            <a:avLst/>
          </a:prstGeom>
          <a:solidFill>
            <a:srgbClr val="A5B0BE"/>
          </a:solidFill>
          <a:ln w="12700">
            <a:solidFill>
              <a:srgbClr val="A5B0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3383280" y="1700784"/>
            <a:ext cx="2578608" cy="393192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0086E6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3383280" y="1700784"/>
            <a:ext cx="2578608" cy="822960"/>
          </a:xfrm>
          <a:prstGeom prst="roundRect">
            <a:avLst>
              <a:gd name="adj" fmla="val 10000"/>
            </a:avLst>
          </a:prstGeom>
          <a:solidFill>
            <a:srgbClr val="0086E6"/>
          </a:solidFill>
          <a:ln w="12700">
            <a:solidFill>
              <a:srgbClr val="0086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 txBox="1"/>
          <p:nvPr/>
        </p:nvSpPr>
        <p:spPr>
          <a:xfrm>
            <a:off x="3602736" y="1810512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602736" y="2029968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4910328" y="208483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3602736" y="2706624"/>
            <a:ext cx="21396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pilot on one domain and one audience, with real content and real users. The ontology, filters and thresholds are tuned against the prioritised question set.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602736" y="4498848"/>
            <a:ext cx="274320" cy="41148"/>
          </a:xfrm>
          <a:prstGeom prst="rect">
            <a:avLst/>
          </a:prstGeom>
          <a:solidFill>
            <a:srgbClr val="0086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3602736" y="4645152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i="1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platform on live content, measured answer quality, curator workflow in use.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012180" y="3611880"/>
            <a:ext cx="137160" cy="173736"/>
          </a:xfrm>
          <a:prstGeom prst="rightArrow">
            <a:avLst/>
          </a:prstGeom>
          <a:solidFill>
            <a:srgbClr val="A5B0BE"/>
          </a:solidFill>
          <a:ln w="12700">
            <a:solidFill>
              <a:srgbClr val="A5B0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6199632" y="1700784"/>
            <a:ext cx="2578608" cy="393192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6199632" y="1700784"/>
            <a:ext cx="2578608" cy="822960"/>
          </a:xfrm>
          <a:prstGeom prst="roundRect">
            <a:avLst>
              <a:gd name="adj" fmla="val 10000"/>
            </a:avLst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 txBox="1"/>
          <p:nvPr/>
        </p:nvSpPr>
        <p:spPr>
          <a:xfrm>
            <a:off x="6419088" y="1810512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419088" y="2029968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Harden</a:t>
            </a:r>
            <a:endParaRPr lang="en-US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7726680" y="208483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419088" y="2706624"/>
            <a:ext cx="21396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readiness: identity integration, permission mapping, security review, telemetry and dashboards, operational runbooks and release automation.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19088" y="4498848"/>
            <a:ext cx="274320" cy="41148"/>
          </a:xfrm>
          <a:prstGeom prst="rect">
            <a:avLst/>
          </a:prstGeom>
          <a:solidFill>
            <a:srgbClr val="04785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 txBox="1"/>
          <p:nvPr/>
        </p:nvSpPr>
        <p:spPr>
          <a:xfrm>
            <a:off x="6419088" y="4645152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i="1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deployment inside the customer’s control environment, with governance in place.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828532" y="3611880"/>
            <a:ext cx="137160" cy="173736"/>
          </a:xfrm>
          <a:prstGeom prst="rightArrow">
            <a:avLst/>
          </a:prstGeom>
          <a:solidFill>
            <a:srgbClr val="A5B0BE"/>
          </a:solidFill>
          <a:ln w="12700">
            <a:solidFill>
              <a:srgbClr val="A5B0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9015984" y="1700784"/>
            <a:ext cx="2578608" cy="393192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9333EA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9015984" y="1700784"/>
            <a:ext cx="2578608" cy="822960"/>
          </a:xfrm>
          <a:prstGeom prst="roundRect">
            <a:avLst>
              <a:gd name="adj" fmla="val 10000"/>
            </a:avLst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 txBox="1"/>
          <p:nvPr/>
        </p:nvSpPr>
        <p:spPr>
          <a:xfrm>
            <a:off x="9235440" y="1810512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9235440" y="2029968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Extend</a:t>
            </a:r>
            <a:endParaRPr lang="en-US" sz="1900" dirty="0"/>
          </a:p>
        </p:txBody>
      </p:sp>
      <p:sp>
        <p:nvSpPr>
          <p:cNvPr id="35" name="Text 33"/>
          <p:cNvSpPr txBox="1"/>
          <p:nvPr/>
        </p:nvSpPr>
        <p:spPr>
          <a:xfrm>
            <a:off x="10543032" y="208483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9235440" y="2706624"/>
            <a:ext cx="21396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domains, languages and audiences, driven by the ranked gap backlog the platform itself produces. Continuous curation replaces one-off content projects.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9235440" y="4498848"/>
            <a:ext cx="274320" cy="41148"/>
          </a:xfrm>
          <a:prstGeom prst="rect">
            <a:avLst/>
          </a:prstGeom>
          <a:solidFill>
            <a:srgbClr val="9333E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 txBox="1"/>
          <p:nvPr/>
        </p:nvSpPr>
        <p:spPr>
          <a:xfrm>
            <a:off x="9235440" y="4645152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i="1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Expanding coverage, improving health scores, a content plan grounded in real demand.</a:t>
            </a:r>
            <a:endParaRPr lang="en-US" sz="1100" dirty="0"/>
          </a:p>
        </p:txBody>
      </p:sp>
      <p:pic>
        <p:nvPicPr>
          <p:cNvPr id="3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419088"/>
            <a:ext cx="173736" cy="173736"/>
          </a:xfrm>
          <a:prstGeom prst="rect">
            <a:avLst/>
          </a:prstGeom>
        </p:spPr>
      </p:pic>
      <p:sp>
        <p:nvSpPr>
          <p:cNvPr id="40" name="Text 37"/>
          <p:cNvSpPr txBox="1"/>
          <p:nvPr/>
        </p:nvSpPr>
        <p:spPr>
          <a:xfrm>
            <a:off x="813816" y="642823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QualiZeal · AI Center of Excellence</a:t>
            </a:r>
            <a:endParaRPr lang="en-US" sz="1000" dirty="0"/>
          </a:p>
        </p:txBody>
      </p:sp>
      <p:sp>
        <p:nvSpPr>
          <p:cNvPr id="41" name="Text 38"/>
          <p:cNvSpPr txBox="1"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  <p:transition spd="slow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66928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15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makes this different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66928" y="1298448"/>
            <a:ext cx="1828800" cy="45720"/>
          </a:xfrm>
          <a:prstGeom prst="rect">
            <a:avLst/>
          </a:prstGeom>
          <a:solidFill>
            <a:srgbClr val="F53E5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566928" y="1755648"/>
            <a:ext cx="365760" cy="365760"/>
          </a:xfrm>
          <a:prstGeom prst="ellipse">
            <a:avLst/>
          </a:prstGeom>
          <a:solidFill>
            <a:srgbClr val="E8F5FF"/>
          </a:solidFill>
          <a:ln w="15875">
            <a:solidFill>
              <a:srgbClr val="0096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 txBox="1"/>
          <p:nvPr/>
        </p:nvSpPr>
        <p:spPr>
          <a:xfrm>
            <a:off x="56692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8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70078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is gated, not trusted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5413248" y="1719072"/>
            <a:ext cx="6181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grounding check runs before anything is written. Citation is a property of the design, not a promise about behaviour.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2688336"/>
            <a:ext cx="365760" cy="365760"/>
          </a:xfrm>
          <a:prstGeom prst="ellipse">
            <a:avLst/>
          </a:prstGeom>
          <a:solidFill>
            <a:srgbClr val="E8F5FF"/>
          </a:solidFill>
          <a:ln w="15875">
            <a:solidFill>
              <a:srgbClr val="0096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 txBox="1"/>
          <p:nvPr/>
        </p:nvSpPr>
        <p:spPr>
          <a:xfrm>
            <a:off x="566928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8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70432" y="263347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Clarification instead of refusal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2651760"/>
            <a:ext cx="6181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evidence produces a targeted question and a second attempt, recovering answers that a refusal would have discarded.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3621024"/>
            <a:ext cx="365760" cy="365760"/>
          </a:xfrm>
          <a:prstGeom prst="ellipse">
            <a:avLst/>
          </a:prstGeom>
          <a:solidFill>
            <a:srgbClr val="E8F5FF"/>
          </a:solidFill>
          <a:ln w="15875">
            <a:solidFill>
              <a:srgbClr val="0096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 txBox="1"/>
          <p:nvPr/>
        </p:nvSpPr>
        <p:spPr>
          <a:xfrm>
            <a:off x="566928" y="3621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8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70432" y="356616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 applied before ranking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5413248" y="3584448"/>
            <a:ext cx="6181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Unauthorised content never enters the candidate set, so it cannot shape a result or be inferred from one.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553712"/>
            <a:ext cx="365760" cy="365760"/>
          </a:xfrm>
          <a:prstGeom prst="ellipse">
            <a:avLst/>
          </a:prstGeom>
          <a:solidFill>
            <a:srgbClr val="E8F5FF"/>
          </a:solidFill>
          <a:ln w="15875">
            <a:solidFill>
              <a:srgbClr val="0096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 txBox="1"/>
          <p:nvPr/>
        </p:nvSpPr>
        <p:spPr>
          <a:xfrm>
            <a:off x="566928" y="4553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8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4498848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reports its own gaps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5413248" y="4517136"/>
            <a:ext cx="6181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and clarified questions become a ranked content backlog, so the corpus improves from real demand.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5486400"/>
            <a:ext cx="365760" cy="365760"/>
          </a:xfrm>
          <a:prstGeom prst="ellipse">
            <a:avLst/>
          </a:prstGeom>
          <a:solidFill>
            <a:srgbClr val="E8F5FF"/>
          </a:solidFill>
          <a:ln w="15875">
            <a:solidFill>
              <a:srgbClr val="0096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 txBox="1"/>
          <p:nvPr/>
        </p:nvSpPr>
        <p:spPr>
          <a:xfrm>
            <a:off x="566928" y="5486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8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70432" y="5431536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Portable by construction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5413248" y="5449824"/>
            <a:ext cx="6181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Model, vector store, embedding and identity are all deployment choices; none of them is the product.</a:t>
            </a:r>
            <a:endParaRPr lang="en-US" sz="1250" dirty="0"/>
          </a:p>
        </p:txBody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419088"/>
            <a:ext cx="173736" cy="173736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813816" y="642823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QualiZeal · AI Center of Excellence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1948</Words>
  <Application>Microsoft Office PowerPoint</Application>
  <PresentationFormat>Widescreen</PresentationFormat>
  <Paragraphs>274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O365 Office Apps</cp:lastModifiedBy>
  <cp:revision>2</cp:revision>
  <dcterms:created xsi:type="dcterms:W3CDTF">2026-08-27T09:16:07Z</dcterms:created>
  <dcterms:modified xsi:type="dcterms:W3CDTF">2026-08-27T11:05:07Z</dcterms:modified>
</cp:coreProperties>
</file>